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5" r:id="rId3"/>
    <p:sldId id="264" r:id="rId4"/>
    <p:sldId id="267" r:id="rId5"/>
    <p:sldId id="268" r:id="rId6"/>
    <p:sldId id="269" r:id="rId7"/>
    <p:sldId id="262" r:id="rId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2" autoAdjust="0"/>
    <p:restoredTop sz="94660"/>
  </p:normalViewPr>
  <p:slideViewPr>
    <p:cSldViewPr snapToGrid="0">
      <p:cViewPr>
        <p:scale>
          <a:sx n="75" d="100"/>
          <a:sy n="75" d="100"/>
        </p:scale>
        <p:origin x="324" y="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LPLACE Benoît" userId="6b2b3159-3bd3-443a-9ae3-642d77538212" providerId="ADAL" clId="{B4BC5E2E-497F-4B07-9A56-409814061CC1}"/>
    <pc:docChg chg="custSel addSld modSld">
      <pc:chgData name="DELPLACE Benoît" userId="6b2b3159-3bd3-443a-9ae3-642d77538212" providerId="ADAL" clId="{B4BC5E2E-497F-4B07-9A56-409814061CC1}" dt="2025-01-24T07:44:23.415" v="38" actId="478"/>
      <pc:docMkLst>
        <pc:docMk/>
      </pc:docMkLst>
      <pc:sldChg chg="addSp delSp modSp new mod">
        <pc:chgData name="DELPLACE Benoît" userId="6b2b3159-3bd3-443a-9ae3-642d77538212" providerId="ADAL" clId="{B4BC5E2E-497F-4B07-9A56-409814061CC1}" dt="2025-01-24T07:44:23.415" v="38" actId="478"/>
        <pc:sldMkLst>
          <pc:docMk/>
          <pc:sldMk cId="593387700" sldId="268"/>
        </pc:sldMkLst>
        <pc:spChg chg="mod">
          <ac:chgData name="DELPLACE Benoît" userId="6b2b3159-3bd3-443a-9ae3-642d77538212" providerId="ADAL" clId="{B4BC5E2E-497F-4B07-9A56-409814061CC1}" dt="2025-01-24T07:44:20.901" v="37" actId="20577"/>
          <ac:spMkLst>
            <pc:docMk/>
            <pc:sldMk cId="593387700" sldId="268"/>
            <ac:spMk id="2" creationId="{A6D542CA-35A9-20E0-4144-A155C4F099B9}"/>
          </ac:spMkLst>
        </pc:spChg>
        <pc:spChg chg="del">
          <ac:chgData name="DELPLACE Benoît" userId="6b2b3159-3bd3-443a-9ae3-642d77538212" providerId="ADAL" clId="{B4BC5E2E-497F-4B07-9A56-409814061CC1}" dt="2025-01-24T07:44:23.415" v="38" actId="478"/>
          <ac:spMkLst>
            <pc:docMk/>
            <pc:sldMk cId="593387700" sldId="268"/>
            <ac:spMk id="3" creationId="{6DF15B9B-F5EF-990E-3764-99FAF7604888}"/>
          </ac:spMkLst>
        </pc:spChg>
        <pc:picChg chg="add mod">
          <ac:chgData name="DELPLACE Benoît" userId="6b2b3159-3bd3-443a-9ae3-642d77538212" providerId="ADAL" clId="{B4BC5E2E-497F-4B07-9A56-409814061CC1}" dt="2025-01-24T07:44:08.942" v="3" actId="1076"/>
          <ac:picMkLst>
            <pc:docMk/>
            <pc:sldMk cId="593387700" sldId="268"/>
            <ac:picMk id="5" creationId="{883B0D92-2B79-36DF-0693-9CA2737FA3F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BC27D-22DB-4113-B670-D5D42516EE5B}" type="datetimeFigureOut">
              <a:rPr lang="fr-FR" smtClean="0"/>
              <a:t>04/01/2026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14E06-B976-4650-93F7-151E2A69CE6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97352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BC27D-22DB-4113-B670-D5D42516EE5B}" type="datetimeFigureOut">
              <a:rPr lang="fr-FR" smtClean="0"/>
              <a:t>04/01/2026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14E06-B976-4650-93F7-151E2A69CE6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9151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BC27D-22DB-4113-B670-D5D42516EE5B}" type="datetimeFigureOut">
              <a:rPr lang="fr-FR" smtClean="0"/>
              <a:t>04/01/2026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14E06-B976-4650-93F7-151E2A69CE6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4899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BC27D-22DB-4113-B670-D5D42516EE5B}" type="datetimeFigureOut">
              <a:rPr lang="fr-FR" smtClean="0"/>
              <a:t>04/01/2026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14E06-B976-4650-93F7-151E2A69CE6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63816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BC27D-22DB-4113-B670-D5D42516EE5B}" type="datetimeFigureOut">
              <a:rPr lang="fr-FR" smtClean="0"/>
              <a:t>04/01/2026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14E06-B976-4650-93F7-151E2A69CE6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80025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BC27D-22DB-4113-B670-D5D42516EE5B}" type="datetimeFigureOut">
              <a:rPr lang="fr-FR" smtClean="0"/>
              <a:t>04/01/2026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14E06-B976-4650-93F7-151E2A69CE6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91630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BC27D-22DB-4113-B670-D5D42516EE5B}" type="datetimeFigureOut">
              <a:rPr lang="fr-FR" smtClean="0"/>
              <a:t>04/01/2026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14E06-B976-4650-93F7-151E2A69CE6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80367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BC27D-22DB-4113-B670-D5D42516EE5B}" type="datetimeFigureOut">
              <a:rPr lang="fr-FR" smtClean="0"/>
              <a:t>04/01/2026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14E06-B976-4650-93F7-151E2A69CE6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4271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BC27D-22DB-4113-B670-D5D42516EE5B}" type="datetimeFigureOut">
              <a:rPr lang="fr-FR" smtClean="0"/>
              <a:t>04/01/2026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14E06-B976-4650-93F7-151E2A69CE6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93312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BC27D-22DB-4113-B670-D5D42516EE5B}" type="datetimeFigureOut">
              <a:rPr lang="fr-FR" smtClean="0"/>
              <a:t>04/01/2026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14E06-B976-4650-93F7-151E2A69CE6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61674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BC27D-22DB-4113-B670-D5D42516EE5B}" type="datetimeFigureOut">
              <a:rPr lang="fr-FR" smtClean="0"/>
              <a:t>04/01/2026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14E06-B976-4650-93F7-151E2A69CE6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062383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 et contenu 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22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415" imgH="416" progId="TCLayout.ActiveDocument.1">
                  <p:embed/>
                </p:oleObj>
              </mc:Choice>
              <mc:Fallback>
                <p:oleObj name="Diapositive think-cell" r:id="rId3" imgW="415" imgH="416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22" y="2119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fld id="{59894E3C-CCE6-F242-84E3-BCBDD257A1E1}" type="slidenum">
              <a:rPr lang="fr-FR" smtClean="0"/>
              <a:t>‹N°›</a:t>
            </a:fld>
            <a:endParaRPr lang="fr-FR"/>
          </a:p>
        </p:txBody>
      </p:sp>
      <p:sp>
        <p:nvSpPr>
          <p:cNvPr id="7" name="Espace réservé du texte 9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792816" y="484488"/>
            <a:ext cx="10789584" cy="533480"/>
          </a:xfrm>
        </p:spPr>
        <p:txBody>
          <a:bodyPr/>
          <a:lstStyle>
            <a:lvl1pPr algn="ctr">
              <a:spcAft>
                <a:spcPts val="1067"/>
              </a:spcAft>
              <a:defRPr sz="3467" cap="none"/>
            </a:lvl1pPr>
            <a:lvl2pPr algn="ctr">
              <a:defRPr sz="3200">
                <a:solidFill>
                  <a:srgbClr val="574C52"/>
                </a:solidFill>
              </a:defRPr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fr-FR"/>
              <a:t>Titre de la </a:t>
            </a:r>
            <a:r>
              <a:rPr lang="fr-FR" err="1"/>
              <a:t>slide</a:t>
            </a:r>
            <a:endParaRPr lang="fr-FR"/>
          </a:p>
        </p:txBody>
      </p:sp>
      <p:sp>
        <p:nvSpPr>
          <p:cNvPr id="9" name="Espace réservé du texte 9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792816" y="1145133"/>
            <a:ext cx="10789584" cy="492443"/>
          </a:xfrm>
        </p:spPr>
        <p:txBody>
          <a:bodyPr/>
          <a:lstStyle>
            <a:lvl1pPr algn="ctr">
              <a:spcAft>
                <a:spcPts val="1067"/>
              </a:spcAft>
              <a:defRPr sz="3200" b="0" cap="none">
                <a:solidFill>
                  <a:srgbClr val="574C52"/>
                </a:solidFill>
              </a:defRPr>
            </a:lvl1pPr>
            <a:lvl2pPr algn="ctr">
              <a:defRPr sz="3200">
                <a:solidFill>
                  <a:srgbClr val="574C52"/>
                </a:solidFill>
              </a:defRPr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fr-FR"/>
              <a:t>Sous-titre</a:t>
            </a:r>
          </a:p>
        </p:txBody>
      </p:sp>
    </p:spTree>
    <p:extLst>
      <p:ext uri="{BB962C8B-B14F-4D97-AF65-F5344CB8AC3E}">
        <p14:creationId xmlns:p14="http://schemas.microsoft.com/office/powerpoint/2010/main" val="1960621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5BC27D-22DB-4113-B670-D5D42516EE5B}" type="datetimeFigureOut">
              <a:rPr lang="fr-FR" smtClean="0"/>
              <a:t>04/01/2026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C14E06-B976-4650-93F7-151E2A69CE6E}" type="slidenum">
              <a:rPr lang="fr-FR" smtClean="0"/>
              <a:t>‹N°›</a:t>
            </a:fld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A35F32ED-B284-FBFE-BB4E-688C5250A0FF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0891838" y="6703060"/>
            <a:ext cx="1254125" cy="914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fr-FR" sz="6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Niveau confidentialité : Interne (C=1)///</a:t>
            </a:r>
          </a:p>
        </p:txBody>
      </p:sp>
    </p:spTree>
    <p:extLst>
      <p:ext uri="{BB962C8B-B14F-4D97-AF65-F5344CB8AC3E}">
        <p14:creationId xmlns:p14="http://schemas.microsoft.com/office/powerpoint/2010/main" val="9523358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1BD30052-A7E7-510F-B7C2-E4CC2CA3A55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2816" y="168794"/>
            <a:ext cx="10789584" cy="533480"/>
          </a:xfrm>
        </p:spPr>
        <p:txBody>
          <a:bodyPr>
            <a:normAutofit fontScale="25000" lnSpcReduction="20000"/>
          </a:bodyPr>
          <a:lstStyle/>
          <a:p>
            <a:endParaRPr lang="fr-FR" dirty="0"/>
          </a:p>
          <a:p>
            <a:pPr marL="0" indent="0">
              <a:buNone/>
            </a:pPr>
            <a:r>
              <a:rPr lang="fr-FR" sz="19200" b="1" dirty="0">
                <a:solidFill>
                  <a:srgbClr val="FF0000"/>
                </a:solidFill>
              </a:rPr>
              <a:t>Feuille de présence numérique</a:t>
            </a:r>
            <a:endParaRPr lang="fr-FR" sz="1440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fr-FR" sz="192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fr-FR" sz="14400" dirty="0">
                <a:solidFill>
                  <a:srgbClr val="FF0000"/>
                </a:solidFill>
              </a:rPr>
              <a:t> 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91C845D5-4FCC-A7C2-E599-7C56D2BDFF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9891" y="1236134"/>
            <a:ext cx="8335433" cy="5556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0557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CB250CC2-7025-0DDA-9FF5-5D7C8A07984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dirty="0"/>
              <a:t>Objectifs &amp; Périmètres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29F7BC-FA40-42AD-1D8F-263385B690CA}"/>
              </a:ext>
            </a:extLst>
          </p:cNvPr>
          <p:cNvSpPr/>
          <p:nvPr/>
        </p:nvSpPr>
        <p:spPr>
          <a:xfrm>
            <a:off x="751381" y="2873369"/>
            <a:ext cx="5303184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fr-FR" sz="2400" dirty="0">
              <a:solidFill>
                <a:srgbClr val="202124"/>
              </a:solidFill>
              <a:latin typeface="arial" panose="020B0604020202020204" pitchFamily="34" charset="0"/>
            </a:endParaRPr>
          </a:p>
          <a:p>
            <a:r>
              <a:rPr lang="fr-FR" sz="2400" dirty="0">
                <a:solidFill>
                  <a:srgbClr val="202124"/>
                </a:solidFill>
                <a:latin typeface="arial" panose="020B0604020202020204" pitchFamily="34" charset="0"/>
              </a:rPr>
              <a:t>Les principaux objectifs sont 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rgbClr val="202124"/>
                </a:solidFill>
                <a:latin typeface="arial" panose="020B0604020202020204" pitchFamily="34" charset="0"/>
              </a:rPr>
              <a:t>Faciliter la saisies et le suivi des présences et absences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rgbClr val="202124"/>
                </a:solidFill>
                <a:latin typeface="arial" panose="020B0604020202020204" pitchFamily="34" charset="0"/>
              </a:rPr>
              <a:t>Centraliser les données de présence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rgbClr val="202124"/>
                </a:solidFill>
                <a:latin typeface="arial" panose="020B0604020202020204" pitchFamily="34" charset="0"/>
              </a:rPr>
              <a:t>Automatiser les calculs (taux de présence, absences cumulées …)</a:t>
            </a:r>
          </a:p>
          <a:p>
            <a:endParaRPr lang="fr-FR" sz="2400" dirty="0">
              <a:solidFill>
                <a:srgbClr val="202124"/>
              </a:solidFill>
              <a:latin typeface="arial" panose="020B0604020202020204" pitchFamily="34" charset="0"/>
            </a:endParaRPr>
          </a:p>
          <a:p>
            <a:endParaRPr lang="fr-FR" sz="2400" dirty="0">
              <a:solidFill>
                <a:srgbClr val="202124"/>
              </a:solidFill>
              <a:latin typeface="arial" panose="020B0604020202020204" pitchFamily="34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BAA8B6F-B491-423F-A98E-318C6BA1394F}"/>
              </a:ext>
            </a:extLst>
          </p:cNvPr>
          <p:cNvSpPr txBox="1"/>
          <p:nvPr/>
        </p:nvSpPr>
        <p:spPr>
          <a:xfrm>
            <a:off x="6596922" y="3221655"/>
            <a:ext cx="498547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>
                <a:latin typeface="Arial" panose="020B0604020202020204" pitchFamily="34" charset="0"/>
              </a:rPr>
              <a:t>Le périmètre de l’application :</a:t>
            </a:r>
          </a:p>
          <a:p>
            <a:pPr marL="342900" indent="-342900">
              <a:buFontTx/>
              <a:buChar char="-"/>
            </a:pPr>
            <a:r>
              <a:rPr lang="fr-FR" sz="2400" dirty="0">
                <a:latin typeface="Arial" panose="020B0604020202020204" pitchFamily="34" charset="0"/>
              </a:rPr>
              <a:t>Gestion des utilisateurs</a:t>
            </a:r>
          </a:p>
          <a:p>
            <a:pPr marL="342900" indent="-342900">
              <a:buFontTx/>
              <a:buChar char="-"/>
            </a:pPr>
            <a:r>
              <a:rPr lang="fr-FR" sz="2400" dirty="0">
                <a:latin typeface="Arial" panose="020B0604020202020204" pitchFamily="34" charset="0"/>
              </a:rPr>
              <a:t>Gestion des étudiants</a:t>
            </a:r>
          </a:p>
          <a:p>
            <a:pPr marL="342900" indent="-342900">
              <a:buFontTx/>
              <a:buChar char="-"/>
            </a:pPr>
            <a:r>
              <a:rPr lang="fr-FR" sz="2400" dirty="0">
                <a:latin typeface="Arial" panose="020B0604020202020204" pitchFamily="34" charset="0"/>
              </a:rPr>
              <a:t>Gestion des cours et des groupes</a:t>
            </a:r>
          </a:p>
          <a:p>
            <a:pPr marL="342900" indent="-342900">
              <a:buFontTx/>
              <a:buChar char="-"/>
            </a:pPr>
            <a:r>
              <a:rPr lang="fr-FR" sz="2400" dirty="0">
                <a:latin typeface="Arial" panose="020B0604020202020204" pitchFamily="34" charset="0"/>
              </a:rPr>
              <a:t>Saisie des présences</a:t>
            </a:r>
          </a:p>
          <a:p>
            <a:pPr marL="342900" indent="-342900">
              <a:buFontTx/>
              <a:buChar char="-"/>
            </a:pPr>
            <a:r>
              <a:rPr lang="fr-FR" sz="2400" dirty="0">
                <a:latin typeface="Arial" panose="020B0604020202020204" pitchFamily="34" charset="0"/>
              </a:rPr>
              <a:t>Consultation et export des données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1890ED40-8179-2745-8320-D41210CE7F66}"/>
              </a:ext>
            </a:extLst>
          </p:cNvPr>
          <p:cNvSpPr txBox="1"/>
          <p:nvPr/>
        </p:nvSpPr>
        <p:spPr>
          <a:xfrm>
            <a:off x="751381" y="1188417"/>
            <a:ext cx="1099779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>
                <a:latin typeface="Arial" panose="020B0604020202020204" pitchFamily="34" charset="0"/>
              </a:rPr>
              <a:t>Aujourd’hui, le suivi des présences est réalisé sous format papier.</a:t>
            </a:r>
          </a:p>
          <a:p>
            <a:endParaRPr lang="fr-FR" sz="2400" dirty="0">
              <a:latin typeface="Arial" panose="020B0604020202020204" pitchFamily="34" charset="0"/>
            </a:endParaRPr>
          </a:p>
          <a:p>
            <a:r>
              <a:rPr lang="fr-FR" sz="2400" dirty="0">
                <a:solidFill>
                  <a:srgbClr val="202124"/>
                </a:solidFill>
                <a:latin typeface="arial" panose="020B0604020202020204" pitchFamily="34" charset="0"/>
              </a:rPr>
              <a:t>Le projet consiste à numériser cette fonction, grâce à une application simple, fiable et sécurisée.</a:t>
            </a:r>
          </a:p>
          <a:p>
            <a:endParaRPr lang="fr-FR" sz="2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2756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C4C2667E-F314-DC90-9A7E-7909397AC9B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dirty="0"/>
              <a:t>Fonctions 1/2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0CC0FE6E-A786-481E-5B92-B2E97C220805}"/>
              </a:ext>
            </a:extLst>
          </p:cNvPr>
          <p:cNvSpPr txBox="1"/>
          <p:nvPr/>
        </p:nvSpPr>
        <p:spPr>
          <a:xfrm>
            <a:off x="427890" y="1522054"/>
            <a:ext cx="1069369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Tx/>
              <a:buChar char="-"/>
            </a:pPr>
            <a:r>
              <a:rPr lang="fr-FR" sz="2400" dirty="0">
                <a:latin typeface="Arial" panose="020B0604020202020204" pitchFamily="34" charset="0"/>
              </a:rPr>
              <a:t>Gestion des utilisateurs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>
                <a:latin typeface="Arial" panose="020B0604020202020204" pitchFamily="34" charset="0"/>
              </a:rPr>
              <a:t>Connexion par identifiant et mot de passe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>
                <a:latin typeface="Arial" panose="020B0604020202020204" pitchFamily="34" charset="0"/>
              </a:rPr>
              <a:t>Droits définis selon le rôle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>
              <a:latin typeface="Arial" panose="020B0604020202020204" pitchFamily="34" charset="0"/>
            </a:endParaRPr>
          </a:p>
          <a:p>
            <a:pPr marL="342900" indent="-342900">
              <a:buFontTx/>
              <a:buChar char="-"/>
            </a:pPr>
            <a:r>
              <a:rPr lang="fr-FR" sz="2400" dirty="0">
                <a:latin typeface="Arial" panose="020B0604020202020204" pitchFamily="34" charset="0"/>
              </a:rPr>
              <a:t>Gestion des étudiants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>
                <a:latin typeface="Arial" panose="020B0604020202020204" pitchFamily="34" charset="0"/>
              </a:rPr>
              <a:t>Ajout, modification et suppression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>
                <a:latin typeface="Arial" panose="020B0604020202020204" pitchFamily="34" charset="0"/>
              </a:rPr>
              <a:t>Affectation à un groupe / promotion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>
              <a:latin typeface="Arial" panose="020B0604020202020204" pitchFamily="34" charset="0"/>
            </a:endParaRPr>
          </a:p>
          <a:p>
            <a:pPr marL="342900" indent="-342900">
              <a:buFontTx/>
              <a:buChar char="-"/>
            </a:pPr>
            <a:r>
              <a:rPr lang="fr-FR" sz="2400" dirty="0">
                <a:latin typeface="Arial" panose="020B0604020202020204" pitchFamily="34" charset="0"/>
              </a:rPr>
              <a:t>Gestion des cours et des groupes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>
                <a:latin typeface="Arial" panose="020B0604020202020204" pitchFamily="34" charset="0"/>
              </a:rPr>
              <a:t>Création et gestion des cours et des séances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>
                <a:latin typeface="Arial" panose="020B0604020202020204" pitchFamily="34" charset="0"/>
              </a:rPr>
              <a:t>Association enseignants / groupe étudiants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>
                <a:latin typeface="Arial" panose="020B0604020202020204" pitchFamily="34" charset="0"/>
              </a:rPr>
              <a:t>Création d’un code unique/QR code pour une séance(date / heure)</a:t>
            </a:r>
          </a:p>
        </p:txBody>
      </p:sp>
    </p:spTree>
    <p:extLst>
      <p:ext uri="{BB962C8B-B14F-4D97-AF65-F5344CB8AC3E}">
        <p14:creationId xmlns:p14="http://schemas.microsoft.com/office/powerpoint/2010/main" val="12013661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04B38-EE70-9DA3-6D17-3D0EB8178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E56DE5BD-75D2-2971-70E9-3593AB6FF81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dirty="0"/>
              <a:t>Fonctions 2/2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AC989C3-250E-A448-4783-1F636CF5D6E5}"/>
              </a:ext>
            </a:extLst>
          </p:cNvPr>
          <p:cNvSpPr txBox="1"/>
          <p:nvPr/>
        </p:nvSpPr>
        <p:spPr>
          <a:xfrm>
            <a:off x="427890" y="1522054"/>
            <a:ext cx="10693692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Tx/>
              <a:buChar char="-"/>
            </a:pPr>
            <a:r>
              <a:rPr lang="fr-FR" sz="2400" dirty="0">
                <a:latin typeface="Arial" panose="020B0604020202020204" pitchFamily="34" charset="0"/>
              </a:rPr>
              <a:t>Saisie des présences (soit manuel par enseignant , soit par code/QR code)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>
                <a:latin typeface="Arial" panose="020B0604020202020204" pitchFamily="34" charset="0"/>
              </a:rPr>
              <a:t>Marquage des présences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>
                <a:latin typeface="Arial" panose="020B0604020202020204" pitchFamily="34" charset="0"/>
              </a:rPr>
              <a:t>Ajout de commentaires (en retard, excusé)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>
                <a:latin typeface="Arial" panose="020B0604020202020204" pitchFamily="34" charset="0"/>
              </a:rPr>
              <a:t>Enregistrement par code ou QR Code (nom étudiant, séance, heure émargement).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>
                <a:latin typeface="Arial" panose="020B0604020202020204" pitchFamily="34" charset="0"/>
              </a:rPr>
              <a:t>NB : QR Code valable uniquement pendant la séance, un seul émargement par étudiant, blocage après expiration du temps.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>
              <a:latin typeface="Arial" panose="020B0604020202020204" pitchFamily="34" charset="0"/>
            </a:endParaRPr>
          </a:p>
          <a:p>
            <a:pPr marL="342900" indent="-342900">
              <a:buFontTx/>
              <a:buChar char="-"/>
            </a:pPr>
            <a:r>
              <a:rPr lang="fr-FR" sz="2400" dirty="0">
                <a:latin typeface="Arial" panose="020B0604020202020204" pitchFamily="34" charset="0"/>
              </a:rPr>
              <a:t>Consultation et export des données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>
                <a:latin typeface="Arial" panose="020B0604020202020204" pitchFamily="34" charset="0"/>
              </a:rPr>
              <a:t>Historique des présences par étudiants, par cours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>
                <a:latin typeface="Arial" panose="020B0604020202020204" pitchFamily="34" charset="0"/>
              </a:rPr>
              <a:t>Calcul automatique du taux de présence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>
                <a:latin typeface="Arial" panose="020B0604020202020204" pitchFamily="34" charset="0"/>
              </a:rPr>
              <a:t>Distinction présence manuelle / QR Code</a:t>
            </a:r>
          </a:p>
          <a:p>
            <a:pPr marL="342900" indent="-342900">
              <a:buFontTx/>
              <a:buChar char="-"/>
            </a:pPr>
            <a:endParaRPr lang="fr-FR" sz="2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92887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182F73F5-7F68-DFCF-FCF6-B61E74AD06A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dirty="0"/>
              <a:t>Contraintes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13E73A49-F759-0416-C795-A72D28795E31}"/>
              </a:ext>
            </a:extLst>
          </p:cNvPr>
          <p:cNvSpPr txBox="1"/>
          <p:nvPr/>
        </p:nvSpPr>
        <p:spPr>
          <a:xfrm>
            <a:off x="427890" y="1522054"/>
            <a:ext cx="10693692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Tx/>
              <a:buChar char="-"/>
            </a:pPr>
            <a:r>
              <a:rPr lang="fr-FR" sz="2400" dirty="0">
                <a:latin typeface="Arial" panose="020B0604020202020204" pitchFamily="34" charset="0"/>
              </a:rPr>
              <a:t>Interface simple et intuitive</a:t>
            </a:r>
          </a:p>
          <a:p>
            <a:pPr marL="342900" indent="-342900">
              <a:buFontTx/>
              <a:buChar char="-"/>
            </a:pPr>
            <a:r>
              <a:rPr lang="fr-FR" sz="2400" dirty="0">
                <a:latin typeface="Arial" panose="020B0604020202020204" pitchFamily="34" charset="0"/>
              </a:rPr>
              <a:t>Rapidité de l’émargement par QR Code</a:t>
            </a:r>
          </a:p>
          <a:p>
            <a:pPr marL="342900" indent="-342900">
              <a:buFontTx/>
              <a:buChar char="-"/>
            </a:pPr>
            <a:r>
              <a:rPr lang="fr-FR" sz="2400" dirty="0">
                <a:latin typeface="Arial" panose="020B0604020202020204" pitchFamily="34" charset="0"/>
              </a:rPr>
              <a:t>Base de données relationnes</a:t>
            </a:r>
          </a:p>
          <a:p>
            <a:pPr marL="342900" indent="-342900">
              <a:buFontTx/>
              <a:buChar char="-"/>
            </a:pPr>
            <a:r>
              <a:rPr lang="fr-FR" sz="2400" dirty="0">
                <a:latin typeface="Arial" panose="020B0604020202020204" pitchFamily="34" charset="0"/>
              </a:rPr>
              <a:t>Architecture simple (MVC)</a:t>
            </a:r>
          </a:p>
          <a:p>
            <a:pPr marL="342900" indent="-342900">
              <a:buFontTx/>
              <a:buChar char="-"/>
            </a:pPr>
            <a:r>
              <a:rPr lang="fr-FR" sz="2400" dirty="0">
                <a:latin typeface="Arial" panose="020B0604020202020204" pitchFamily="34" charset="0"/>
              </a:rPr>
              <a:t>Utilisable sur ordinateur et smartphone</a:t>
            </a:r>
          </a:p>
          <a:p>
            <a:pPr marL="342900" indent="-342900">
              <a:buFontTx/>
              <a:buChar char="-"/>
            </a:pPr>
            <a:r>
              <a:rPr lang="fr-FR" sz="2400" dirty="0">
                <a:latin typeface="Arial" panose="020B0604020202020204" pitchFamily="34" charset="0"/>
              </a:rPr>
              <a:t>Temps de réponse rapide</a:t>
            </a:r>
          </a:p>
          <a:p>
            <a:pPr marL="342900" indent="-342900">
              <a:buFontTx/>
              <a:buChar char="-"/>
            </a:pPr>
            <a:r>
              <a:rPr lang="fr-FR" sz="2400" dirty="0">
                <a:latin typeface="Arial" panose="020B0604020202020204" pitchFamily="34" charset="0"/>
              </a:rPr>
              <a:t>Sauvegarde automatique des données</a:t>
            </a:r>
          </a:p>
          <a:p>
            <a:pPr marL="342900" indent="-342900">
              <a:buFontTx/>
              <a:buChar char="-"/>
            </a:pPr>
            <a:r>
              <a:rPr lang="fr-FR" sz="2400" dirty="0">
                <a:latin typeface="Arial" panose="020B0604020202020204" pitchFamily="34" charset="0"/>
              </a:rPr>
              <a:t>Respect du RGPD (données personnelles)</a:t>
            </a:r>
          </a:p>
          <a:p>
            <a:pPr marL="342900" indent="-342900">
              <a:buFontTx/>
              <a:buChar char="-"/>
            </a:pPr>
            <a:r>
              <a:rPr lang="fr-FR" sz="2400" dirty="0">
                <a:latin typeface="Arial" panose="020B0604020202020204" pitchFamily="34" charset="0"/>
              </a:rPr>
              <a:t>Protection contre la fraude (durée limitée, unicité)</a:t>
            </a:r>
          </a:p>
          <a:p>
            <a:pPr marL="342900" indent="-342900">
              <a:buFontTx/>
              <a:buChar char="-"/>
            </a:pPr>
            <a:r>
              <a:rPr lang="fr-FR" sz="2400" dirty="0">
                <a:latin typeface="Arial" panose="020B0604020202020204" pitchFamily="34" charset="0"/>
              </a:rPr>
              <a:t>Sécurité des accès et confidentialité des données</a:t>
            </a:r>
          </a:p>
          <a:p>
            <a:pPr marL="342900" indent="-342900">
              <a:buFontTx/>
              <a:buChar char="-"/>
            </a:pPr>
            <a:r>
              <a:rPr lang="fr-FR" sz="2400" dirty="0">
                <a:latin typeface="Arial" panose="020B0604020202020204" pitchFamily="34" charset="0"/>
              </a:rPr>
              <a:t>Traçabilité des actions</a:t>
            </a:r>
          </a:p>
        </p:txBody>
      </p:sp>
    </p:spTree>
    <p:extLst>
      <p:ext uri="{BB962C8B-B14F-4D97-AF65-F5344CB8AC3E}">
        <p14:creationId xmlns:p14="http://schemas.microsoft.com/office/powerpoint/2010/main" val="33676228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A381A-7745-ACC0-FCE0-5DE9A919B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2A51B5B5-19A1-7DE7-8100-46ABD054F36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dirty="0"/>
              <a:t>Données manipulées (non exhaustif)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3852DB13-B926-150C-5458-CBA8134D74EA}"/>
              </a:ext>
            </a:extLst>
          </p:cNvPr>
          <p:cNvSpPr txBox="1"/>
          <p:nvPr/>
        </p:nvSpPr>
        <p:spPr>
          <a:xfrm>
            <a:off x="427890" y="1522054"/>
            <a:ext cx="10693692" cy="44096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fr-FR" sz="2400" dirty="0">
                <a:latin typeface="Arial" panose="020B0604020202020204" pitchFamily="34" charset="0"/>
              </a:rPr>
              <a:t>Utilisateurs (id, nom, prénom, @mail, mode passe, rôle, actif)</a:t>
            </a:r>
          </a:p>
          <a:p>
            <a:pPr>
              <a:lnSpc>
                <a:spcPct val="200000"/>
              </a:lnSpc>
            </a:pPr>
            <a:r>
              <a:rPr lang="fr-FR" sz="2400" dirty="0">
                <a:latin typeface="Arial" panose="020B0604020202020204" pitchFamily="34" charset="0"/>
              </a:rPr>
              <a:t>Étudiants(id, nom, prénom, matricule, @mail, actif)</a:t>
            </a:r>
          </a:p>
          <a:p>
            <a:pPr>
              <a:lnSpc>
                <a:spcPct val="200000"/>
              </a:lnSpc>
            </a:pPr>
            <a:r>
              <a:rPr lang="fr-FR" sz="2400" dirty="0">
                <a:latin typeface="Arial" panose="020B0604020202020204" pitchFamily="34" charset="0"/>
              </a:rPr>
              <a:t>Cours (id, libelle, année, enseignant)</a:t>
            </a:r>
          </a:p>
          <a:p>
            <a:pPr>
              <a:lnSpc>
                <a:spcPct val="200000"/>
              </a:lnSpc>
            </a:pPr>
            <a:r>
              <a:rPr lang="fr-FR" sz="2400" dirty="0">
                <a:latin typeface="Arial" panose="020B0604020202020204" pitchFamily="34" charset="0"/>
              </a:rPr>
              <a:t>Séances(id, date, heure(début-fin))_</a:t>
            </a:r>
          </a:p>
          <a:p>
            <a:pPr>
              <a:lnSpc>
                <a:spcPct val="200000"/>
              </a:lnSpc>
            </a:pPr>
            <a:r>
              <a:rPr lang="fr-FR" sz="2400" dirty="0">
                <a:latin typeface="Arial" panose="020B0604020202020204" pitchFamily="34" charset="0"/>
              </a:rPr>
              <a:t>Présence(id, statut, commentaire, horodatage, </a:t>
            </a:r>
            <a:r>
              <a:rPr lang="fr-FR" sz="2400" dirty="0" err="1">
                <a:latin typeface="Arial" panose="020B0604020202020204" pitchFamily="34" charset="0"/>
              </a:rPr>
              <a:t>mode_saisie</a:t>
            </a:r>
            <a:r>
              <a:rPr lang="fr-FR" sz="2400" dirty="0">
                <a:latin typeface="Arial" panose="020B0604020202020204" pitchFamily="34" charset="0"/>
              </a:rPr>
              <a:t>)</a:t>
            </a:r>
          </a:p>
          <a:p>
            <a:pPr>
              <a:lnSpc>
                <a:spcPct val="200000"/>
              </a:lnSpc>
            </a:pPr>
            <a:r>
              <a:rPr lang="fr-FR" sz="2400" dirty="0" err="1">
                <a:latin typeface="Arial" panose="020B0604020202020204" pitchFamily="34" charset="0"/>
              </a:rPr>
              <a:t>Token_émargement</a:t>
            </a:r>
            <a:r>
              <a:rPr lang="fr-FR" sz="2400" dirty="0">
                <a:latin typeface="Arial" panose="020B0604020202020204" pitchFamily="34" charset="0"/>
              </a:rPr>
              <a:t>(id, valeur, date création, date validité (début-fin), actif)</a:t>
            </a:r>
          </a:p>
        </p:txBody>
      </p:sp>
    </p:spTree>
    <p:extLst>
      <p:ext uri="{BB962C8B-B14F-4D97-AF65-F5344CB8AC3E}">
        <p14:creationId xmlns:p14="http://schemas.microsoft.com/office/powerpoint/2010/main" val="24024575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94E3C-CCE6-F242-84E3-BCBDD257A1E1}" type="slidenum">
              <a:rPr lang="fr-FR" smtClean="0"/>
              <a:t>7</a:t>
            </a:fld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dirty="0"/>
              <a:t>Questions / Réponses</a:t>
            </a: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4664" y="1527263"/>
            <a:ext cx="5881317" cy="4792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69735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538</TotalTime>
  <Words>406</Words>
  <Application>Microsoft Office PowerPoint</Application>
  <PresentationFormat>Grand écran</PresentationFormat>
  <Paragraphs>64</Paragraphs>
  <Slides>7</Slides>
  <Notes>0</Notes>
  <HiddenSlides>0</HiddenSlides>
  <MMClips>0</MMClips>
  <ScaleCrop>false</ScaleCrop>
  <HeadingPairs>
    <vt:vector size="8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3" baseType="lpstr">
      <vt:lpstr>Arial</vt:lpstr>
      <vt:lpstr>Arial</vt:lpstr>
      <vt:lpstr>Calibri</vt:lpstr>
      <vt:lpstr>Calibri Light</vt:lpstr>
      <vt:lpstr>Thème Office</vt:lpstr>
      <vt:lpstr>Diapositive think-cell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RTE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DELPLACE Benoit</dc:creator>
  <cp:lastModifiedBy>DELPLACE Benoît</cp:lastModifiedBy>
  <cp:revision>16</cp:revision>
  <dcterms:created xsi:type="dcterms:W3CDTF">2023-01-06T15:59:08Z</dcterms:created>
  <dcterms:modified xsi:type="dcterms:W3CDTF">2026-01-04T20:06:20Z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d26f538-337a-4593-a7e6-123667b1a538_Enabled">
    <vt:lpwstr>true</vt:lpwstr>
  </property>
  <property fmtid="{D5CDD505-2E9C-101B-9397-08002B2CF9AE}" pid="3" name="MSIP_Label_2d26f538-337a-4593-a7e6-123667b1a538_SetDate">
    <vt:lpwstr>2024-01-18T16:15:41Z</vt:lpwstr>
  </property>
  <property fmtid="{D5CDD505-2E9C-101B-9397-08002B2CF9AE}" pid="4" name="MSIP_Label_2d26f538-337a-4593-a7e6-123667b1a538_Method">
    <vt:lpwstr>Standard</vt:lpwstr>
  </property>
  <property fmtid="{D5CDD505-2E9C-101B-9397-08002B2CF9AE}" pid="5" name="MSIP_Label_2d26f538-337a-4593-a7e6-123667b1a538_Name">
    <vt:lpwstr>C1 Interne</vt:lpwstr>
  </property>
  <property fmtid="{D5CDD505-2E9C-101B-9397-08002B2CF9AE}" pid="6" name="MSIP_Label_2d26f538-337a-4593-a7e6-123667b1a538_SiteId">
    <vt:lpwstr>e242425b-70fc-44dc-9ddf-c21e304e6c80</vt:lpwstr>
  </property>
  <property fmtid="{D5CDD505-2E9C-101B-9397-08002B2CF9AE}" pid="7" name="MSIP_Label_2d26f538-337a-4593-a7e6-123667b1a538_ActionId">
    <vt:lpwstr>4c1744ec-d3ae-4e27-a112-badd8ecc308c</vt:lpwstr>
  </property>
  <property fmtid="{D5CDD505-2E9C-101B-9397-08002B2CF9AE}" pid="8" name="MSIP_Label_2d26f538-337a-4593-a7e6-123667b1a538_ContentBits">
    <vt:lpwstr>0</vt:lpwstr>
  </property>
  <property fmtid="{D5CDD505-2E9C-101B-9397-08002B2CF9AE}" pid="9" name="MSIP_Label_2da1dab6-5dc6-4b82-bfc1-0d055081e2e2_Enabled">
    <vt:lpwstr>true</vt:lpwstr>
  </property>
  <property fmtid="{D5CDD505-2E9C-101B-9397-08002B2CF9AE}" pid="10" name="MSIP_Label_2da1dab6-5dc6-4b82-bfc1-0d055081e2e2_SetDate">
    <vt:lpwstr>2025-01-24T07:41:56Z</vt:lpwstr>
  </property>
  <property fmtid="{D5CDD505-2E9C-101B-9397-08002B2CF9AE}" pid="11" name="MSIP_Label_2da1dab6-5dc6-4b82-bfc1-0d055081e2e2_Method">
    <vt:lpwstr>Standard</vt:lpwstr>
  </property>
  <property fmtid="{D5CDD505-2E9C-101B-9397-08002B2CF9AE}" pid="12" name="MSIP_Label_2da1dab6-5dc6-4b82-bfc1-0d055081e2e2_Name">
    <vt:lpwstr>Interne (C=1)</vt:lpwstr>
  </property>
  <property fmtid="{D5CDD505-2E9C-101B-9397-08002B2CF9AE}" pid="13" name="MSIP_Label_2da1dab6-5dc6-4b82-bfc1-0d055081e2e2_SiteId">
    <vt:lpwstr>9e4ed65f-a541-4462-ad19-6646c8086cca</vt:lpwstr>
  </property>
  <property fmtid="{D5CDD505-2E9C-101B-9397-08002B2CF9AE}" pid="14" name="MSIP_Label_2da1dab6-5dc6-4b82-bfc1-0d055081e2e2_ActionId">
    <vt:lpwstr>39063fdd-8321-4c58-8273-965fef6530ee</vt:lpwstr>
  </property>
  <property fmtid="{D5CDD505-2E9C-101B-9397-08002B2CF9AE}" pid="15" name="MSIP_Label_2da1dab6-5dc6-4b82-bfc1-0d055081e2e2_ContentBits">
    <vt:lpwstr>2</vt:lpwstr>
  </property>
  <property fmtid="{D5CDD505-2E9C-101B-9397-08002B2CF9AE}" pid="16" name="ClassificationContentMarkingFooterLocations">
    <vt:lpwstr>Thème Office:8</vt:lpwstr>
  </property>
  <property fmtid="{D5CDD505-2E9C-101B-9397-08002B2CF9AE}" pid="17" name="ClassificationContentMarkingFooterText">
    <vt:lpwstr>Niveau confidentialité : Interne (C=1)///</vt:lpwstr>
  </property>
</Properties>
</file>